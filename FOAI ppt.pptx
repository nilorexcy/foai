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43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92608"/>
            <a:ext cx="137160" cy="20116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46888"/>
            <a:ext cx="3657600" cy="30175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DF8"/>
                </a:solidFill>
                <a:latin typeface="Aptos"/>
              </a:defRPr>
            </a:pPr>
            <a:r>
              <a:t>RULEGUARD  /  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28600"/>
            <a:ext cx="9144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EAEC7"/>
                </a:solidFill>
                <a:latin typeface="Aptos"/>
              </a:defRPr>
            </a:pPr>
            <a:r>
              <a:t>01 /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82528" cy="1828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10144" y="1353312"/>
            <a:ext cx="3383280" cy="3383280"/>
          </a:xfrm>
          <a:prstGeom prst="roundRect">
            <a:avLst>
              <a:gd name="adj" fmla="val 12000"/>
            </a:avLst>
          </a:prstGeom>
          <a:solidFill>
            <a:srgbClr val="414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1371600"/>
            <a:ext cx="2194560" cy="22860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spcAft>
                <a:spcPts val="300"/>
              </a:spcAft>
              <a:defRPr sz="12500" b="1">
                <a:solidFill>
                  <a:srgbClr val="D5E87B"/>
                </a:solidFill>
                <a:latin typeface="Aptos"/>
              </a:defRPr>
            </a:pPr>
            <a:r>
              <a:t>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7406640" cy="29260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FFFDF8"/>
                </a:solidFill>
                <a:latin typeface="Aptos Display"/>
              </a:defRPr>
            </a:pPr>
            <a:r>
              <a:t>AI-BASED</a:t>
            </a:r>
          </a:p>
          <a:p>
            <a:pPr>
              <a:spcAft>
                <a:spcPts val="300"/>
              </a:spcAft>
              <a:defRPr sz="3400" b="1">
                <a:solidFill>
                  <a:srgbClr val="FFFDF8"/>
                </a:solidFill>
                <a:latin typeface="Aptos Display"/>
              </a:defRPr>
            </a:pPr>
            <a:r>
              <a:t>AUTOMATED API</a:t>
            </a:r>
          </a:p>
          <a:p>
            <a:pPr>
              <a:spcAft>
                <a:spcPts val="300"/>
              </a:spcAft>
              <a:defRPr sz="3400" b="1">
                <a:solidFill>
                  <a:srgbClr val="FFFDF8"/>
                </a:solidFill>
                <a:latin typeface="Aptos Display"/>
              </a:defRPr>
            </a:pPr>
            <a:r>
              <a:t>TESTING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681728"/>
            <a:ext cx="5486400" cy="4572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ED6A57"/>
                </a:solidFill>
                <a:latin typeface="Aptos"/>
              </a:defRPr>
            </a:pPr>
            <a:r>
              <a:t>RULEGUARD ATELIER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394960"/>
            <a:ext cx="6903720" cy="667512"/>
          </a:xfrm>
          <a:prstGeom prst="roundRect">
            <a:avLst>
              <a:gd name="adj" fmla="val 12000"/>
            </a:avLst>
          </a:prstGeom>
          <a:solidFill>
            <a:srgbClr val="34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5477256"/>
            <a:ext cx="6583680" cy="566309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DF8"/>
                </a:solidFill>
                <a:latin typeface="Aptos"/>
              </a:defRPr>
            </a:pPr>
            <a:r>
              <a:rPr lang="en-SG" sz="1600" dirty="0"/>
              <a:t>Name : Nilo Rexcy A</a:t>
            </a:r>
            <a:br>
              <a:rPr lang="en-SG" sz="1600" dirty="0"/>
            </a:br>
            <a:r>
              <a:rPr lang="en-SG" sz="1600" dirty="0"/>
              <a:t>Roll no: 240701361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92608"/>
            <a:ext cx="137160" cy="20116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46888"/>
            <a:ext cx="3657600" cy="30175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414BC8"/>
                </a:solidFill>
                <a:latin typeface="Aptos"/>
              </a:defRPr>
            </a:pPr>
            <a:r>
              <a:t>RULEGUARD  /  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28600"/>
            <a:ext cx="9144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67086"/>
                </a:solidFill>
                <a:latin typeface="Aptos"/>
              </a:defRPr>
            </a:pPr>
            <a:r>
              <a:t>02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972800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202339"/>
                </a:solidFill>
                <a:latin typeface="Aptos Display"/>
              </a:defRPr>
            </a:pPr>
            <a:r>
              <a:t>The problem we solve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67086"/>
                </a:solidFill>
                <a:latin typeface="Aptos"/>
              </a:defRPr>
            </a:pPr>
            <a:r>
              <a:t>A practical, explainable alternative to repetitive manual API checking.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28816"/>
            <a:ext cx="11082528" cy="18288"/>
          </a:xfrm>
          <a:prstGeom prst="rect">
            <a:avLst/>
          </a:prstGeom>
          <a:solidFill>
            <a:srgbClr val="D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212080" cy="409651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0664" y="2075688"/>
            <a:ext cx="59436" cy="38404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29968"/>
            <a:ext cx="475488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02339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96896"/>
            <a:ext cx="4599432" cy="327355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667086"/>
                </a:solidFill>
                <a:latin typeface="Aptos"/>
              </a:defRPr>
            </a:pPr>
            <a:r>
              <a:t>Manual API testing is repetitive and error-prone. Teams must check status codes, response fields, edge cases and changing contracts.</a:t>
            </a:r>
          </a:p>
          <a:p>
            <a:pPr>
              <a:spcAft>
                <a:spcPts val="300"/>
              </a:spcAft>
              <a:defRPr sz="1800" b="0">
                <a:solidFill>
                  <a:srgbClr val="667086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800" b="0">
                <a:solidFill>
                  <a:srgbClr val="667086"/>
                </a:solidFill>
                <a:latin typeface="Aptos"/>
              </a:defRPr>
            </a:pPr>
            <a:r>
              <a:t>Existing approaches can be complex to configure, and a simple PASS result can hide missing test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847088"/>
            <a:ext cx="5596128" cy="4096512"/>
          </a:xfrm>
          <a:prstGeom prst="roundRect">
            <a:avLst>
              <a:gd name="adj" fmla="val 12000"/>
            </a:avLst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1344" y="2075688"/>
            <a:ext cx="59436" cy="384048"/>
          </a:xfrm>
          <a:prstGeom prst="rect">
            <a:avLst/>
          </a:prstGeom>
          <a:solidFill>
            <a:srgbClr val="414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2029968"/>
            <a:ext cx="5138928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02339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596896"/>
            <a:ext cx="4983480" cy="327355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667086"/>
                </a:solidFill>
                <a:latin typeface="Aptos"/>
              </a:defRPr>
            </a:pPr>
            <a:r>
              <a:t>RuleGuard Atelier provides a local visual workspace to draft positive/negative tests, execute authorized API requests, validate JSON responses, spot contract drift and explain release risks.</a:t>
            </a:r>
          </a:p>
          <a:p>
            <a:pPr>
              <a:spcAft>
                <a:spcPts val="300"/>
              </a:spcAft>
              <a:defRPr sz="1700" b="0">
                <a:solidFill>
                  <a:srgbClr val="667086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700" b="0">
                <a:solidFill>
                  <a:srgbClr val="667086"/>
                </a:solidFill>
                <a:latin typeface="Aptos"/>
              </a:defRPr>
            </a:pPr>
            <a:r>
              <a:t>Classical AI: rules + heuristics; no LLMs or machine-learning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92608"/>
            <a:ext cx="137160" cy="20116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46888"/>
            <a:ext cx="3657600" cy="30175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414BC8"/>
                </a:solidFill>
                <a:latin typeface="Aptos"/>
              </a:defRPr>
            </a:pPr>
            <a:r>
              <a:t>RULEGUARD  /  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28600"/>
            <a:ext cx="9144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67086"/>
                </a:solidFill>
                <a:latin typeface="Aptos"/>
              </a:defRPr>
            </a:pPr>
            <a:r>
              <a:t>03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972800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202339"/>
                </a:solidFill>
                <a:latin typeface="Aptos Display"/>
              </a:defRPr>
            </a:pPr>
            <a:r>
              <a:t>Literature survey — five research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67086"/>
                </a:solidFill>
                <a:latin typeface="Aptos"/>
              </a:defRPr>
            </a:pPr>
            <a:r>
              <a:t>Methodology, strengths (+), limitations (–), implementation and our response.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28816"/>
            <a:ext cx="11082528" cy="18288"/>
          </a:xfrm>
          <a:prstGeom prst="rect">
            <a:avLst/>
          </a:prstGeom>
          <a:solidFill>
            <a:srgbClr val="D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801368"/>
            <a:ext cx="11018520" cy="7955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801368"/>
            <a:ext cx="68580" cy="79552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37943"/>
            <a:ext cx="3785615" cy="32918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2339"/>
                </a:solidFill>
                <a:latin typeface="Aptos"/>
              </a:defRPr>
            </a:pPr>
            <a:r>
              <a:t>01  RESTler • Atlidakis, Godefroid &amp; Polishchuk (2019)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51660"/>
            <a:ext cx="6858000" cy="201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414BC8"/>
                </a:solidFill>
                <a:latin typeface="Aptos"/>
              </a:defRPr>
            </a:pPr>
            <a:r>
              <a:t>Method: stateful, specification-guided REST fuzzing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71116"/>
            <a:ext cx="6876288" cy="21031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67086"/>
                </a:solidFill>
                <a:latin typeface="Aptos"/>
              </a:defRPr>
            </a:pPr>
            <a:r>
              <a:t>+ Finds sequence/dependency bugs  |  – Complex state-space exploration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231136"/>
            <a:ext cx="10680192" cy="23774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202339"/>
                </a:solidFill>
                <a:latin typeface="Aptos"/>
              </a:defRPr>
            </a:pPr>
            <a:r>
              <a:t>Our approach: simpler deterministic checks; stateful flows are future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670048"/>
            <a:ext cx="11018520" cy="7955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670048"/>
            <a:ext cx="68580" cy="795528"/>
          </a:xfrm>
          <a:prstGeom prst="rect">
            <a:avLst/>
          </a:prstGeom>
          <a:solidFill>
            <a:srgbClr val="414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2706624"/>
            <a:ext cx="3785615" cy="32918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2339"/>
                </a:solidFill>
                <a:latin typeface="Aptos"/>
              </a:defRPr>
            </a:pPr>
            <a:r>
              <a:t>02  RESTest • Martin-López, Segura &amp; Ruiz-Cortés (2021)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720340"/>
            <a:ext cx="6858000" cy="201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414BC8"/>
                </a:solidFill>
                <a:latin typeface="Aptos"/>
              </a:defRPr>
            </a:pPr>
            <a:r>
              <a:t>Method: OpenAPI-based black-box test generators / 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939796"/>
            <a:ext cx="6876288" cy="21031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67086"/>
                </a:solidFill>
                <a:latin typeface="Aptos"/>
              </a:defRPr>
            </a:pPr>
            <a:r>
              <a:t>+ Extensible and automated  |  – Generated tests still need domain oracles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099815"/>
            <a:ext cx="10680192" cy="23774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202339"/>
                </a:solidFill>
                <a:latin typeface="Aptos"/>
              </a:defRPr>
            </a:pPr>
            <a:r>
              <a:t>Our approach: editable, explainable assertions and developer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38728"/>
            <a:ext cx="11018520" cy="7955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538728"/>
            <a:ext cx="68580" cy="79552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3575304"/>
            <a:ext cx="3785615" cy="32918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2339"/>
                </a:solidFill>
                <a:latin typeface="Aptos"/>
              </a:defRPr>
            </a:pPr>
            <a:r>
              <a:t>03  EvoMaster • Arcuri (2018)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3589020"/>
            <a:ext cx="6858000" cy="201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414BC8"/>
                </a:solidFill>
                <a:latin typeface="Aptos"/>
              </a:defRPr>
            </a:pPr>
            <a:r>
              <a:t>Method: evolutionary search for REST system-level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3808476"/>
            <a:ext cx="6876288" cy="21031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67086"/>
                </a:solidFill>
                <a:latin typeface="Aptos"/>
              </a:defRPr>
            </a:pPr>
            <a:r>
              <a:t>+ Automatic search and fault finding  |  – JVM/code instrumentation emphasis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968496"/>
            <a:ext cx="10680192" cy="23774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202339"/>
                </a:solidFill>
                <a:latin typeface="Aptos"/>
              </a:defRPr>
            </a:pPr>
            <a:r>
              <a:t>Our approach: language-agnostic external checks; no instrumentation.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07407"/>
            <a:ext cx="11018520" cy="7955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4407407"/>
            <a:ext cx="68580" cy="795528"/>
          </a:xfrm>
          <a:prstGeom prst="rect">
            <a:avLst/>
          </a:prstGeom>
          <a:solidFill>
            <a:srgbClr val="414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" y="4443983"/>
            <a:ext cx="3785615" cy="32918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2339"/>
                </a:solidFill>
                <a:latin typeface="Aptos"/>
              </a:defRPr>
            </a:pPr>
            <a:r>
              <a:t>04  Spec-based API tests • Ed-douibi, Cánovas &amp; Cabot (2018)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4457699"/>
            <a:ext cx="6858000" cy="201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414BC8"/>
                </a:solidFill>
                <a:latin typeface="Aptos"/>
              </a:defRPr>
            </a:pPr>
            <a:r>
              <a:t>Method: derive test cases from OpenAPI definitions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4677155"/>
            <a:ext cx="6876288" cy="21031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67086"/>
                </a:solidFill>
                <a:latin typeface="Aptos"/>
              </a:defRPr>
            </a:pPr>
            <a:r>
              <a:t>+ Reuses API specifications  |  – Specs may be incomplete or outdated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837175"/>
            <a:ext cx="10680192" cy="23774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202339"/>
                </a:solidFill>
                <a:latin typeface="Aptos"/>
              </a:defRPr>
            </a:pPr>
            <a:r>
              <a:t>Our approach: OpenAPI drafts plus observed contract comparisons.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276088"/>
            <a:ext cx="11018520" cy="7955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5276088"/>
            <a:ext cx="68580" cy="79552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8096" y="5312664"/>
            <a:ext cx="3785615" cy="32918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2339"/>
                </a:solidFill>
                <a:latin typeface="Aptos"/>
              </a:defRPr>
            </a:pPr>
            <a:r>
              <a:t>05  Comparative study • Kim, Xin, Sinha &amp; Orso (2022)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5326379"/>
            <a:ext cx="6858000" cy="201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414BC8"/>
                </a:solidFill>
                <a:latin typeface="Aptos"/>
              </a:defRPr>
            </a:pPr>
            <a:r>
              <a:t>Method: benchmark 10 REST tools on 20 real services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992" y="5545836"/>
            <a:ext cx="6876288" cy="21031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67086"/>
                </a:solidFill>
                <a:latin typeface="Aptos"/>
              </a:defRPr>
            </a:pPr>
            <a:r>
              <a:t>+ Evidence on strengths and failures  |  – No single generator wins everywhere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5705855"/>
            <a:ext cx="10680192" cy="23774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202339"/>
                </a:solidFill>
                <a:latin typeface="Aptos"/>
              </a:defRPr>
            </a:pPr>
            <a:r>
              <a:t>Our approach: combine heuristics, assertions and transparent risk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92608"/>
            <a:ext cx="137160" cy="20116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46888"/>
            <a:ext cx="3657600" cy="30175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414BC8"/>
                </a:solidFill>
                <a:latin typeface="Aptos"/>
              </a:defRPr>
            </a:pPr>
            <a:r>
              <a:t>RULEGUARD  /  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28600"/>
            <a:ext cx="9144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67086"/>
                </a:solidFill>
                <a:latin typeface="Aptos"/>
              </a:defRPr>
            </a:pPr>
            <a:r>
              <a:t>04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972800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202339"/>
                </a:solidFill>
                <a:latin typeface="Aptos Display"/>
              </a:defRPr>
            </a:pPr>
            <a:r>
              <a:t>System architecture and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67086"/>
                </a:solidFill>
                <a:latin typeface="Aptos"/>
              </a:defRPr>
            </a:pPr>
            <a:r>
              <a:t>A modular pipeline from test definition to explainable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28816"/>
            <a:ext cx="11082528" cy="18288"/>
          </a:xfrm>
          <a:prstGeom prst="rect">
            <a:avLst/>
          </a:prstGeom>
          <a:solidFill>
            <a:srgbClr val="D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9496" y="2331720"/>
            <a:ext cx="2212848" cy="19385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2514600"/>
            <a:ext cx="548640" cy="39319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ED6A5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990088"/>
            <a:ext cx="192024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02339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401568"/>
            <a:ext cx="1938528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67086"/>
                </a:solidFill>
                <a:latin typeface="Aptos"/>
              </a:defRPr>
            </a:pPr>
            <a:r>
              <a:t>HTML · CSS · JS</a:t>
            </a:r>
          </a:p>
          <a:p>
            <a:pPr>
              <a:spcAft>
                <a:spcPts val="300"/>
              </a:spcAft>
              <a:defRPr sz="1100" b="0">
                <a:solidFill>
                  <a:srgbClr val="667086"/>
                </a:solidFill>
                <a:latin typeface="Aptos"/>
              </a:defRPr>
            </a:pPr>
            <a:r>
              <a:t>Suite editor +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2971800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ED6A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2331720"/>
            <a:ext cx="2212848" cy="19385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63240" y="2514600"/>
            <a:ext cx="548640" cy="39319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ED6A5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90088"/>
            <a:ext cx="192024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02339"/>
                </a:solidFill>
                <a:latin typeface="Aptos"/>
              </a:defRPr>
            </a:pPr>
            <a:r>
              <a:t>API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401568"/>
            <a:ext cx="1938528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67086"/>
                </a:solidFill>
                <a:latin typeface="Aptos"/>
              </a:defRPr>
            </a:pPr>
            <a:r>
              <a:t>Python HTTP server</a:t>
            </a:r>
          </a:p>
          <a:p>
            <a:pPr>
              <a:spcAft>
                <a:spcPts val="300"/>
              </a:spcAft>
              <a:defRPr sz="1100" b="0">
                <a:solidFill>
                  <a:srgbClr val="667086"/>
                </a:solidFill>
                <a:latin typeface="Aptos"/>
              </a:defRPr>
            </a:pPr>
            <a:r>
              <a:t>/api/run · /generate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971800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ED6A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2331720"/>
            <a:ext cx="2212848" cy="1938528"/>
          </a:xfrm>
          <a:prstGeom prst="roundRect">
            <a:avLst>
              <a:gd name="adj" fmla="val 12000"/>
            </a:avLst>
          </a:prstGeom>
          <a:solidFill>
            <a:srgbClr val="414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22392" y="2514600"/>
            <a:ext cx="548640" cy="39319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D5E87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2990088"/>
            <a:ext cx="192024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DF8"/>
                </a:solidFill>
                <a:latin typeface="Aptos"/>
              </a:defRPr>
            </a:pPr>
            <a:r>
              <a:t>RULE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3401568"/>
            <a:ext cx="1938528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EBE9FF"/>
                </a:solidFill>
                <a:latin typeface="Aptos"/>
              </a:defRPr>
            </a:pPr>
            <a:r>
              <a:t>Assertions · JSON Schema</a:t>
            </a:r>
          </a:p>
          <a:p>
            <a:pPr>
              <a:spcAft>
                <a:spcPts val="300"/>
              </a:spcAft>
              <a:defRPr sz="1100" b="0">
                <a:solidFill>
                  <a:srgbClr val="EBE9FF"/>
                </a:solidFill>
                <a:latin typeface="Aptos"/>
              </a:defRPr>
            </a:pPr>
            <a:r>
              <a:t>Heuristics + BVA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971800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ED6A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16952" y="2331720"/>
            <a:ext cx="2212848" cy="19385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81544" y="2514600"/>
            <a:ext cx="548640" cy="39319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ED6A5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1544" y="2990088"/>
            <a:ext cx="192024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02339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544" y="3401568"/>
            <a:ext cx="1938528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67086"/>
                </a:solidFill>
                <a:latin typeface="Aptos"/>
              </a:defRPr>
            </a:pPr>
            <a:r>
              <a:t>Demo endpoints /</a:t>
            </a:r>
          </a:p>
          <a:p>
            <a:pPr>
              <a:spcAft>
                <a:spcPts val="300"/>
              </a:spcAft>
              <a:defRPr sz="1100" b="0">
                <a:solidFill>
                  <a:srgbClr val="667086"/>
                </a:solidFill>
                <a:latin typeface="Aptos"/>
              </a:defRPr>
            </a:pPr>
            <a:r>
              <a:t>authorized HTTPS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2971800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ED6A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76104" y="2331720"/>
            <a:ext cx="2212848" cy="19385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40696" y="2514600"/>
            <a:ext cx="548640" cy="39319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ED6A5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0696" y="2990088"/>
            <a:ext cx="192024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02339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0696" y="3401568"/>
            <a:ext cx="1938528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67086"/>
                </a:solidFill>
                <a:latin typeface="Aptos"/>
              </a:defRPr>
            </a:pPr>
            <a:r>
              <a:t>Risk · coverage · drift</a:t>
            </a:r>
          </a:p>
          <a:p>
            <a:pPr>
              <a:spcAft>
                <a:spcPts val="300"/>
              </a:spcAft>
              <a:defRPr sz="1100" b="0">
                <a:solidFill>
                  <a:srgbClr val="667086"/>
                </a:solidFill>
                <a:latin typeface="Aptos"/>
              </a:defRPr>
            </a:pPr>
            <a:r>
              <a:t>SQLite + JSON report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" y="4828032"/>
            <a:ext cx="10716768" cy="1005840"/>
          </a:xfrm>
          <a:prstGeom prst="roundRect">
            <a:avLst>
              <a:gd name="adj" fmla="val 12000"/>
            </a:avLst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" y="5084064"/>
            <a:ext cx="1014984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02339"/>
                </a:solidFill>
                <a:latin typeface="Aptos"/>
              </a:defRPr>
            </a:pPr>
            <a:r>
              <a:t>WORKFLOW   Draft / import → generate assertions → execute cases → compare expected vs actual → score risk → save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92608"/>
            <a:ext cx="137160" cy="20116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46888"/>
            <a:ext cx="3657600" cy="30175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414BC8"/>
                </a:solidFill>
                <a:latin typeface="Aptos"/>
              </a:defRPr>
            </a:pPr>
            <a:r>
              <a:t>RULEGUARD  /  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28600"/>
            <a:ext cx="9144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67086"/>
                </a:solidFill>
                <a:latin typeface="Aptos"/>
              </a:defRPr>
            </a:pPr>
            <a:r>
              <a:t>05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972800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202339"/>
                </a:solidFill>
                <a:latin typeface="Aptos Display"/>
              </a:defRPr>
            </a:pPr>
            <a:r>
              <a:t>Implementation — three core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67086"/>
                </a:solidFill>
                <a:latin typeface="Aptos"/>
              </a:defRPr>
            </a:pPr>
            <a:r>
              <a:t>Technology stack: Python standard library + jsonschema, HTML/CSS/JavaScript and SQLite.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28816"/>
            <a:ext cx="11082528" cy="18288"/>
          </a:xfrm>
          <a:prstGeom prst="rect">
            <a:avLst/>
          </a:prstGeom>
          <a:solidFill>
            <a:srgbClr val="D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2648" y="1892807"/>
            <a:ext cx="3520440" cy="393192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2121408"/>
            <a:ext cx="59436" cy="38404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75688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02339"/>
                </a:solidFill>
                <a:latin typeface="Aptos"/>
              </a:defRPr>
            </a:pPr>
            <a:r>
              <a:t>MODULE 01 / TEST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642615"/>
            <a:ext cx="2907792" cy="31089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Test-case editor, HTTP methods, request body and headers, OpenAPI JSON draft import, heuristic suggestions, basic boundary and equivalence cases.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Files: index.html + script.js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92807"/>
            <a:ext cx="3520440" cy="3931920"/>
          </a:xfrm>
          <a:prstGeom prst="roundRect">
            <a:avLst>
              <a:gd name="adj" fmla="val 12000"/>
            </a:avLst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17136" y="2121408"/>
            <a:ext cx="59436" cy="384048"/>
          </a:xfrm>
          <a:prstGeom prst="rect">
            <a:avLst/>
          </a:prstGeom>
          <a:solidFill>
            <a:srgbClr val="414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72584" y="2075688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02339"/>
                </a:solidFill>
                <a:latin typeface="Aptos"/>
              </a:defRPr>
            </a:pPr>
            <a:r>
              <a:t>MODULE 02 / AI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642615"/>
            <a:ext cx="2907792" cy="31089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Expert rules: expected status, latency, field existence, equality, type, unique IDs, range and JSON Schema; recursive schema inference and drift comparison.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File: app.py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892807"/>
            <a:ext cx="3520440" cy="393192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8" y="2121408"/>
            <a:ext cx="59436" cy="38404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03336" y="2075688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02339"/>
                </a:solidFill>
                <a:latin typeface="Aptos"/>
              </a:defRPr>
            </a:pPr>
            <a:r>
              <a:t>MODULE 03 /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642615"/>
            <a:ext cx="2907792" cy="31089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Isolated HTTP failures; per-case findings; configured-case coverage, assertion pass rate and weighted risk; READY / REVIEW / BLOCK decisions.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Storage: SQLite + JSON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92608"/>
            <a:ext cx="137160" cy="20116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46888"/>
            <a:ext cx="3657600" cy="30175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414BC8"/>
                </a:solidFill>
                <a:latin typeface="Aptos"/>
              </a:defRPr>
            </a:pPr>
            <a:r>
              <a:t>RULEGUARD  /  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28600"/>
            <a:ext cx="9144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67086"/>
                </a:solidFill>
                <a:latin typeface="Aptos"/>
              </a:defRPr>
            </a:pPr>
            <a:r>
              <a:t>06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972800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202339"/>
                </a:solidFill>
                <a:latin typeface="Aptos Display"/>
              </a:defRPr>
            </a:pPr>
            <a:r>
              <a:t>Output — application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67086"/>
                </a:solidFill>
                <a:latin typeface="Aptos"/>
              </a:defRPr>
            </a:pPr>
            <a:r>
              <a:t>App screenshot placeholder: replace this panel with a screenshot from your running RuleGuard website.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28816"/>
            <a:ext cx="11082528" cy="18288"/>
          </a:xfrm>
          <a:prstGeom prst="rect">
            <a:avLst/>
          </a:prstGeom>
          <a:solidFill>
            <a:srgbClr val="D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7512" y="1783080"/>
            <a:ext cx="10844784" cy="425196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901952"/>
            <a:ext cx="10588752" cy="393192"/>
          </a:xfrm>
          <a:prstGeom prst="roundRect">
            <a:avLst>
              <a:gd name="adj" fmla="val 12000"/>
            </a:avLst>
          </a:prstGeom>
          <a:solidFill>
            <a:srgbClr val="20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965960"/>
            <a:ext cx="5303520" cy="19202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DF8"/>
                </a:solidFill>
                <a:latin typeface="Aptos"/>
              </a:defRPr>
            </a:pPr>
            <a:r>
              <a:t>✳   ruleguardatelier   /   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68880"/>
            <a:ext cx="10296144" cy="1307592"/>
          </a:xfrm>
          <a:prstGeom prst="roundRect">
            <a:avLst>
              <a:gd name="adj" fmla="val 12000"/>
            </a:avLst>
          </a:prstGeom>
          <a:solidFill>
            <a:srgbClr val="414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25296" y="2697480"/>
            <a:ext cx="5989320" cy="8595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FFFDF8"/>
                </a:solidFill>
                <a:latin typeface="Aptos"/>
              </a:defRPr>
            </a:pPr>
            <a:r>
              <a:t>Beautiful interfaces.</a:t>
            </a:r>
          </a:p>
          <a:p>
            <a:pPr>
              <a:spcAft>
                <a:spcPts val="300"/>
              </a:spcAft>
              <a:defRPr sz="2300" b="1">
                <a:solidFill>
                  <a:srgbClr val="FFFDF8"/>
                </a:solidFill>
                <a:latin typeface="Aptos"/>
              </a:defRPr>
            </a:pPr>
            <a:r>
              <a:t>Brutally honest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05072"/>
            <a:ext cx="2423160" cy="1097280"/>
          </a:xfrm>
          <a:prstGeom prst="roundRect">
            <a:avLst>
              <a:gd name="adj" fmla="val 12000"/>
            </a:avLst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0704" y="4151376"/>
            <a:ext cx="2103120" cy="25603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67086"/>
                </a:solidFill>
                <a:latin typeface="Aptos"/>
              </a:defRPr>
            </a:pPr>
            <a:r>
              <a:t>QUALITY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4462272"/>
            <a:ext cx="2121408" cy="4572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202339"/>
                </a:solidFill>
                <a:latin typeface="Aptos"/>
              </a:defRPr>
            </a:pPr>
            <a:r>
              <a:t>92 /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8728" y="4005072"/>
            <a:ext cx="2423160" cy="1097280"/>
          </a:xfrm>
          <a:prstGeom prst="roundRect">
            <a:avLst>
              <a:gd name="adj" fmla="val 12000"/>
            </a:avLst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85032" y="4151376"/>
            <a:ext cx="2103120" cy="25603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67086"/>
                </a:solidFill>
                <a:latin typeface="Aptos"/>
              </a:defRPr>
            </a:pPr>
            <a:r>
              <a:t>CASE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4462272"/>
            <a:ext cx="2121408" cy="4572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202339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4005072"/>
            <a:ext cx="2423160" cy="1097280"/>
          </a:xfrm>
          <a:prstGeom prst="roundRect">
            <a:avLst>
              <a:gd name="adj" fmla="val 12000"/>
            </a:avLst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151376"/>
            <a:ext cx="2103120" cy="25603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67086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62272"/>
            <a:ext cx="2121408" cy="4572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20233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87384" y="4005072"/>
            <a:ext cx="2423160" cy="1097280"/>
          </a:xfrm>
          <a:prstGeom prst="roundRect">
            <a:avLst>
              <a:gd name="adj" fmla="val 12000"/>
            </a:avLst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33688" y="4151376"/>
            <a:ext cx="2103120" cy="25603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67086"/>
                </a:solidFill>
                <a:latin typeface="Aptos"/>
              </a:defRPr>
            </a:pPr>
            <a:r>
              <a:t>RELEASE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4462272"/>
            <a:ext cx="2121408" cy="4572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202339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413248"/>
            <a:ext cx="9601200" cy="28346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D6A57"/>
                </a:solidFill>
                <a:latin typeface="Aptos"/>
              </a:defRPr>
            </a:pPr>
            <a:r>
              <a:t>ILLUSTRATIVE UI MOCKUP — VALUES ARE NOT MEASURED TEST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92608"/>
            <a:ext cx="137160" cy="20116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46888"/>
            <a:ext cx="3657600" cy="30175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414BC8"/>
                </a:solidFill>
                <a:latin typeface="Aptos"/>
              </a:defRPr>
            </a:pPr>
            <a:r>
              <a:t>RULEGUARD  /  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28600"/>
            <a:ext cx="9144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67086"/>
                </a:solidFill>
                <a:latin typeface="Aptos"/>
              </a:defRPr>
            </a:pPr>
            <a:r>
              <a:t>07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972800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202339"/>
                </a:solidFill>
                <a:latin typeface="Aptos Display"/>
              </a:defRPr>
            </a:pPr>
            <a:r>
              <a:t>Conclusion &amp; 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67086"/>
                </a:solidFill>
                <a:latin typeface="Aptos"/>
              </a:defRPr>
            </a:pPr>
            <a:r>
              <a:t>What is implemented today—and what comes 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28816"/>
            <a:ext cx="11082528" cy="18288"/>
          </a:xfrm>
          <a:prstGeom prst="rect">
            <a:avLst/>
          </a:prstGeom>
          <a:solidFill>
            <a:srgbClr val="D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5257800" cy="404164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9536" y="2103120"/>
            <a:ext cx="59436" cy="38404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3" y="2057400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02339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624327"/>
            <a:ext cx="4645152" cy="32186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✓ Interactive local API test studio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✓ Rules + basic heuristics without ML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✓ JSON Schema and contract drift checks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✓ Explainable findings, coverage and risk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✓ SQLite history + JSON report export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READY means selected assertions passed—not proof of full requirement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874519"/>
            <a:ext cx="5294376" cy="4041648"/>
          </a:xfrm>
          <a:prstGeom prst="roundRect">
            <a:avLst>
              <a:gd name="adj" fmla="val 12000"/>
            </a:avLst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2103120"/>
            <a:ext cx="59436" cy="384048"/>
          </a:xfrm>
          <a:prstGeom prst="rect">
            <a:avLst/>
          </a:prstGeom>
          <a:solidFill>
            <a:srgbClr val="414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057400"/>
            <a:ext cx="4837176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02339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24327"/>
            <a:ext cx="4681728" cy="32186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→ Generate parameter-aware cases from OpenAPI schemas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→ Add stateful workflows and auth test fixtures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→ Add PDF/HTML evidence reports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→ Improve requirement coverage metrics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→ Add CI pipeline integration and richer browser QA</a:t>
            </a:r>
          </a:p>
          <a:p>
            <a:pPr>
              <a:spcAft>
                <a:spcPts val="300"/>
              </a:spcAft>
              <a:defRPr sz="1600" b="0">
                <a:solidFill>
                  <a:srgbClr val="667086"/>
                </a:solidFill>
                <a:latin typeface="Aptos"/>
              </a:defRPr>
            </a:pPr>
            <a:r>
              <a:t>→ Stronger limits, redaction and sandboxing for live requests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92608"/>
            <a:ext cx="137160" cy="20116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46888"/>
            <a:ext cx="3657600" cy="30175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414BC8"/>
                </a:solidFill>
                <a:latin typeface="Aptos"/>
              </a:defRPr>
            </a:pPr>
            <a:r>
              <a:t>RULEGUARD  /  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28600"/>
            <a:ext cx="9144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67086"/>
                </a:solidFill>
                <a:latin typeface="Aptos"/>
              </a:defRPr>
            </a:pPr>
            <a:r>
              <a:t>08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972800" cy="6858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202339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10972800" cy="4297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67086"/>
                </a:solidFill>
                <a:latin typeface="Aptos"/>
              </a:defRPr>
            </a:pPr>
            <a:r>
              <a:t>Five peer-reviewed sources; links are included in the slide notes below each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28816"/>
            <a:ext cx="11082528" cy="18288"/>
          </a:xfrm>
          <a:prstGeom prst="rect">
            <a:avLst/>
          </a:prstGeom>
          <a:solidFill>
            <a:srgbClr val="D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6656" y="1819656"/>
            <a:ext cx="10844784" cy="722376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1993392"/>
            <a:ext cx="402336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ED6A5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92807"/>
            <a:ext cx="99669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2339"/>
                </a:solidFill>
                <a:latin typeface="Aptos"/>
              </a:defRPr>
            </a:pPr>
            <a:r>
              <a:t>Atlidakis, V., Godefroid, P., &amp; Polishchuk, M. (2019). RESTler: Stateful REST API Fuzzing. ICSE.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76856"/>
            <a:ext cx="9875520" cy="201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414BC8"/>
                </a:solidFill>
                <a:latin typeface="Aptos"/>
              </a:defRPr>
            </a:pPr>
            <a:r>
              <a:t>doi:10.1109/ICSE.2019.00083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2660904"/>
            <a:ext cx="10844784" cy="722376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" y="2834640"/>
            <a:ext cx="402336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ED6A5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34056"/>
            <a:ext cx="99669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2339"/>
                </a:solidFill>
                <a:latin typeface="Aptos"/>
              </a:defRPr>
            </a:pPr>
            <a:r>
              <a:t>Martin-López, A., Segura, S., &amp; Ruiz-Cortés, A. (2021). RESTest: Automated Black-Box Testing of RESTful Web APIs.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18104"/>
            <a:ext cx="9875520" cy="201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414BC8"/>
                </a:solidFill>
                <a:latin typeface="Aptos"/>
              </a:defRPr>
            </a:pPr>
            <a:r>
              <a:t>personal.us.es/amarlop/.../RESTest.pdf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502152"/>
            <a:ext cx="10844784" cy="722376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" y="3675888"/>
            <a:ext cx="402336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ED6A5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75304"/>
            <a:ext cx="99669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2339"/>
                </a:solidFill>
                <a:latin typeface="Aptos"/>
              </a:defRPr>
            </a:pPr>
            <a:r>
              <a:t>Arcuri, A. (2018). EvoMaster: Evolutionary Multi-context Automated System Test Generation. ICST.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9352"/>
            <a:ext cx="9875520" cy="201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414BC8"/>
                </a:solidFill>
                <a:latin typeface="Aptos"/>
              </a:defRPr>
            </a:pPr>
            <a:r>
              <a:t>doi:10.1109/ICST.2018.00046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4343400"/>
            <a:ext cx="10844784" cy="722376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" y="4517136"/>
            <a:ext cx="402336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ED6A5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16552"/>
            <a:ext cx="99669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2339"/>
                </a:solidFill>
                <a:latin typeface="Aptos"/>
              </a:defRPr>
            </a:pPr>
            <a:r>
              <a:t>Ed-douibi, H., Cánovas Izquierdo, J. L., &amp; Cabot, J. (2018). Automatic Generation of Test Cases for REST APIs: A Specification-Based Approach. EDOC.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00600"/>
            <a:ext cx="9875520" cy="201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414BC8"/>
                </a:solidFill>
                <a:latin typeface="Aptos"/>
              </a:defRPr>
            </a:pPr>
            <a:r>
              <a:t>doi:10.1109/EDOC.2018.00031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" y="5184648"/>
            <a:ext cx="10844784" cy="722376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" y="5358384"/>
            <a:ext cx="402336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ED6A5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257800"/>
            <a:ext cx="99669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2339"/>
                </a:solidFill>
                <a:latin typeface="Aptos"/>
              </a:defRPr>
            </a:pPr>
            <a:r>
              <a:t>Kim, M., Xin, Q., Sinha, S., &amp; Orso, A. (2022). Automated Test Generation for REST APIs: No Time to Rest Yet. ISSTA.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41848"/>
            <a:ext cx="9875520" cy="201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414BC8"/>
                </a:solidFill>
                <a:latin typeface="Aptos"/>
              </a:defRPr>
            </a:pPr>
            <a:r>
              <a:t>research.ibm.com/publications/automated-test-generation-for-rest-apis-no-time-to-rest-yet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92608"/>
            <a:ext cx="137160" cy="20116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46888"/>
            <a:ext cx="3657600" cy="30175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DF8"/>
                </a:solidFill>
                <a:latin typeface="Aptos"/>
              </a:defRPr>
            </a:pPr>
            <a:r>
              <a:t>RULEGUARD  /  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28600"/>
            <a:ext cx="9144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EAEC7"/>
                </a:solidFill>
                <a:latin typeface="Aptos"/>
              </a:defRPr>
            </a:pPr>
            <a:r>
              <a:rPr dirty="0"/>
              <a:t>09 /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82528" cy="18288"/>
          </a:xfrm>
          <a:prstGeom prst="rect">
            <a:avLst/>
          </a:prstGeom>
          <a:solidFill>
            <a:srgbClr val="ED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33672" y="1188720"/>
            <a:ext cx="3730752" cy="2825496"/>
          </a:xfrm>
          <a:prstGeom prst="roundRect">
            <a:avLst>
              <a:gd name="adj" fmla="val 12000"/>
            </a:avLst>
          </a:prstGeom>
          <a:solidFill>
            <a:srgbClr val="414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60" y="1481328"/>
            <a:ext cx="1371600" cy="1645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300"/>
              </a:spcAft>
              <a:defRPr sz="9600" b="1">
                <a:solidFill>
                  <a:srgbClr val="D5E87B"/>
                </a:solidFill>
                <a:latin typeface="Aptos"/>
              </a:defRPr>
            </a:pPr>
            <a:r>
              <a:t>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70832"/>
            <a:ext cx="10104120" cy="8686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>
              <a:spcAft>
                <a:spcPts val="300"/>
              </a:spcAft>
              <a:defRPr sz="5200" b="1">
                <a:solidFill>
                  <a:srgbClr val="FFFDF8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1002</Words>
  <Application>Microsoft Office PowerPoint</Application>
  <PresentationFormat>Widescreen</PresentationFormat>
  <Paragraphs>147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Nilo Rexcy</dc:creator>
  <cp:keywords/>
  <dc:description>generated using python-pptx</dc:description>
  <cp:lastModifiedBy>Nilo Rexcy</cp:lastModifiedBy>
  <cp:revision>2</cp:revision>
  <dcterms:created xsi:type="dcterms:W3CDTF">2013-01-27T09:14:16Z</dcterms:created>
  <dcterms:modified xsi:type="dcterms:W3CDTF">2026-10-22T03:01:37Z</dcterms:modified>
  <cp:category/>
</cp:coreProperties>
</file>